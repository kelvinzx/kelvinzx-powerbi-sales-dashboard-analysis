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68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7800"/>
    <a:srgbClr val="544000"/>
    <a:srgbClr val="C1AD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0146" autoAdjust="0"/>
  </p:normalViewPr>
  <p:slideViewPr>
    <p:cSldViewPr snapToGrid="0">
      <p:cViewPr varScale="1">
        <p:scale>
          <a:sx n="61" d="100"/>
          <a:sy n="61" d="100"/>
        </p:scale>
        <p:origin x="1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1BAE4-46EC-4C93-8CD6-78D4C0E2C4B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A85B0-1735-452F-8F2D-CCC844E70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2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A85B0-1735-452F-8F2D-CCC844E709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1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8A5E-A2AE-4BAA-A978-F360D487B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01BC4-72A9-4EFE-A7B7-CAF704C9C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08022-2532-4121-87A2-469360C3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509F9-E10E-49EC-AEC1-5221CC3E4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CDC1C-C0AC-4AE0-A0AC-C448BE81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3CA7-3E2B-4966-AAAB-A63AA321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54C09-B0F6-4097-8703-1EE58C2D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1AFA0-12A1-498C-A7D5-5DA58031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D93A-0A6F-40FB-B002-4BB1DC39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8AA9E-2D0D-4EFA-9BDB-4FADF7CD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2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D8D9-1D90-4FD3-ACA0-F0EBD9BC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309A2-4479-4E2E-9810-38C76EC27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996CD-817E-4A56-9BEE-BBECF7AE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A3CBE-EF27-4F7A-88AB-AA905130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D2EB0-4271-4D8B-B6CD-E30F0536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9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05F2E-050E-499E-942A-F53AEC210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D8888-5700-4177-A623-75E46B0D0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83702-A455-41CF-9392-15820964D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E6CF2-AA2F-4AEC-A7EC-4B71A945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74F6E-347C-47D1-BAC2-86967C60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8F1F9-90E5-4F1C-B55B-2262D3EB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0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7CA1-6604-4C86-A4EA-071CC8B0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4B939-B7A9-4982-98F4-7A3E2AB67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E9227-8DE6-454C-B311-96D731E31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484F7-7A4A-44C9-8ED7-C644C6334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A9F6C-E998-48C9-8F60-6B461B0A3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172BD2-4F96-4475-BAE7-0FDE2C44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CE6C0-75B7-4DB7-BF37-02170BD0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E13595-D9BE-4357-A753-8836FB7C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31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0C9F-E5D7-4AF0-9B00-29B32576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5326F-719C-4670-8363-030E39891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8166D3-818B-43DB-834B-B8971FD5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912E9-333B-4D59-AC6E-48EF673E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7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66896-8E14-458E-97DB-C2EFA15A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D1553-8431-4F94-80E7-4973BC15E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FBEE3-6BBE-4961-BDA0-30A75714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1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E900-B769-4260-913A-8251E4C4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E28C-2DA8-49E0-948B-E9D901256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73D6B-783C-4B9B-9453-6A4BF6BAA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2722D-C428-411F-B04B-FEA537F2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2D23C-73EC-4000-BD88-E423E598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E9598-0242-4762-A84D-E27FCA40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7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639D-33EA-4881-9083-F4CFEFFE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68F7B-033A-4333-BB62-994E3C841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40E54-C98A-4322-AAEE-11305D122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4B8D4-801D-4BFC-B4C3-A019CE5AD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F54B6-5110-4D49-9ADA-7BF8896C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C3B09-3EC6-4DF0-89F2-0B687773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437F-02F0-4E5B-8AA2-8BDAC737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A7659-7EE5-4E33-85CB-2B0F89AC0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D7C52-3265-478C-95C6-4292ED3F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76429-AC6C-44A8-B8EA-64004B00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B6DEA-BD13-4217-9BDD-595C4458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4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2F795-6C68-4D6F-B707-2F0023C33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A6AD4-764F-45E6-AE42-6EEB2B83C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2ABD1-F396-40FB-8D34-239B52A5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9D670-71E5-4C99-8789-EAEFB287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8C160-66A9-443D-97B2-A4391DBE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BC7E1-727A-40F2-AC98-8E880F22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C00C1-F230-4057-BDDA-3C9249750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3662C-FB8E-4E18-A42F-CAA1D4AA3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FE241-F842-4B80-B7C1-B5415EE519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B3B1-E01A-42BC-8069-D227524D7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433DA-B2A5-47A1-984D-FBC8B49FA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9C1F4-77CB-4F12-ADD3-10C5AF4CB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7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7.xml"/><Relationship Id="rId2" Type="http://schemas.openxmlformats.org/officeDocument/2006/relationships/hyperlink" Target="tpayy.pptx#-1,3,PowerPoint Presentation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11" Type="http://schemas.openxmlformats.org/officeDocument/2006/relationships/slide" Target="slide16.xml"/><Relationship Id="rId5" Type="http://schemas.openxmlformats.org/officeDocument/2006/relationships/slide" Target="slide6.xml"/><Relationship Id="rId10" Type="http://schemas.openxmlformats.org/officeDocument/2006/relationships/slide" Target="slide15.xml"/><Relationship Id="rId4" Type="http://schemas.openxmlformats.org/officeDocument/2006/relationships/slide" Target="slide5.xml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First%20Pbi%20project1.pbix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305" y="2159099"/>
            <a:ext cx="9075174" cy="161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Typayhub Gadget and Electronic Store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Performance Dashboard Analysis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E9494DB-72E3-4F69-9ADC-72C7ED491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60" y="5441562"/>
            <a:ext cx="6607277" cy="1210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Kelvin Etisi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Tool Used: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Type: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Dashboard Analysis</a:t>
            </a: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3445577-28E3-466B-9511-18120EB1B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9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478" y="601288"/>
            <a:ext cx="5769896" cy="6030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pres?slideindex=3&amp;slidetitle=PowerPoint Presentation"/>
              </a:rPr>
              <a:t>Project Overview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 Pages </a:t>
            </a:r>
            <a:endParaRPr lang="en-US" sz="20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Data Source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Data Cleaning Process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6" action="ppaction://hlinksldjump"/>
              </a:rPr>
              <a:t>Data Model &amp; Assumptions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Metrics </a:t>
            </a:r>
            <a:endParaRPr lang="en-US" sz="20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DAX Measures </a:t>
            </a:r>
            <a:endParaRPr lang="en-US" sz="20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Insights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Recommendations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How to Use the Report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Disclaimer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Conclusion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6FA365-6B9A-40BE-A425-0E5D7F387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8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505" y="577287"/>
            <a:ext cx="5769896" cy="47742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Built an interactive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Dashboard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Power BI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a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dirty sales dataset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realistic analysis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 and transformed data using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Designed dashboard to track: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trend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 performance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performance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regional sales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4607A7-9BB1-4C04-B148-EC98431A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480" y="5605471"/>
            <a:ext cx="13177520" cy="1118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turn raw sales data into meaningful business insights for decision-making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1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2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20" y="668533"/>
            <a:ext cx="7764860" cy="131398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 Pages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dashboard was divided into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main report pages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easy analysis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5C7E89-D5EF-445A-BDB3-5DD501CD7DFE}"/>
              </a:ext>
            </a:extLst>
          </p:cNvPr>
          <p:cNvGrpSpPr/>
          <p:nvPr/>
        </p:nvGrpSpPr>
        <p:grpSpPr>
          <a:xfrm>
            <a:off x="546020" y="2438198"/>
            <a:ext cx="11099960" cy="3867565"/>
            <a:chOff x="667940" y="2083073"/>
            <a:chExt cx="11099960" cy="3867565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E64607A7-9BB1-4C04-B148-EC98431A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940" y="2083073"/>
              <a:ext cx="3253820" cy="38675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Overview Page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Provides a high-level summary of business performance including: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Orders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Revenue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Average Revenue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Quantity Sold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Monthly Sales Trend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Top Customers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Top Product by Revenue 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C6FD1FB-7CB8-4C44-9DF9-7B693716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4080" y="2302634"/>
              <a:ext cx="3253820" cy="2572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Customer Analysis Page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Highlights customer contribution and regional buying patterns: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Top Customers by Order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Revenue by Region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Regional Customer Performance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Rectangle 8">
            <a:extLst>
              <a:ext uri="{FF2B5EF4-FFF2-40B4-BE49-F238E27FC236}">
                <a16:creationId xmlns:a16="http://schemas.microsoft.com/office/drawing/2014/main" id="{664469B7-8E52-4D00-ADA3-49ADD65ED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3202429"/>
            <a:ext cx="4348478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 Analysis Page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Focuses on product performance across categories and regions: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 Product by Quantity Sold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 Product by Revenue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 Performance by Regio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754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20" y="797767"/>
            <a:ext cx="7764860" cy="1055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data used for this project was a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simulated dirty sales dataset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created to reflect a realistic retail business environment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4607A7-9BB1-4C04-B148-EC98431A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20" y="1853280"/>
            <a:ext cx="4431069" cy="4934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Simulated retail sales dataset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transaction-level sales records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fields include: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ID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Date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Name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 Name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Price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Payment Method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Status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C6FD1FB-7CB8-4C44-9DF9-7B693716C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90" y="5937690"/>
            <a:ext cx="10172780" cy="778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Type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Large and intentionally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messy/dirty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cleaning practice.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08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20" y="1117726"/>
            <a:ext cx="7764860" cy="41559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0AC557-0FB7-489E-A44E-3DDEE7E290AA}"/>
              </a:ext>
            </a:extLst>
          </p:cNvPr>
          <p:cNvGrpSpPr/>
          <p:nvPr/>
        </p:nvGrpSpPr>
        <p:grpSpPr>
          <a:xfrm>
            <a:off x="1640022" y="2039982"/>
            <a:ext cx="8911956" cy="2778036"/>
            <a:chOff x="1324409" y="1908697"/>
            <a:chExt cx="8911956" cy="2778036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E64607A7-9BB1-4C04-B148-EC98431A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409" y="1908697"/>
              <a:ext cx="4431069" cy="27780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Issues Found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Mixed date formats 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Inconsistent text values 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Duplicate-like records 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Wrong revenue values 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Blank fields in key columns 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Missing values 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C6FD1FB-7CB8-4C44-9DF9-7B693716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9642" y="1908697"/>
              <a:ext cx="5076723" cy="27780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Cleaning Done in Power Query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Standardized text entries 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Fixed date formats 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Replaced blank values 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Corrected data types 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Recalculated revenue 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SzPts val="1000"/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Cleaned product, customer, and region fields 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289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60" y="888308"/>
            <a:ext cx="3869914" cy="9121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Model &amp; Assumptions</a:t>
            </a:r>
            <a:endParaRPr lang="en-US" sz="20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0AC557-0FB7-489E-A44E-3DDEE7E290AA}"/>
              </a:ext>
            </a:extLst>
          </p:cNvPr>
          <p:cNvGrpSpPr/>
          <p:nvPr/>
        </p:nvGrpSpPr>
        <p:grpSpPr>
          <a:xfrm>
            <a:off x="1640022" y="1963038"/>
            <a:ext cx="8911956" cy="2931924"/>
            <a:chOff x="1324409" y="1831753"/>
            <a:chExt cx="8911956" cy="293192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E64607A7-9BB1-4C04-B148-EC98431A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409" y="2745080"/>
              <a:ext cx="3252489" cy="1105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</a:pP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Model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Single-table sales model used for analysis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C6FD1FB-7CB8-4C44-9DF9-7B693716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9642" y="1831753"/>
              <a:ext cx="5076723" cy="29319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</a:pP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Assumptions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Revenue = Quantity × Unit Price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Blank customer names → </a:t>
              </a: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Unknown Customer</a:t>
              </a: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Blank product names → </a:t>
              </a: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Unknown Product</a:t>
              </a: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Blank regions → </a:t>
              </a: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Unknown State</a:t>
              </a: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Blank sales reps → </a:t>
              </a: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Unassigned</a:t>
              </a: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Inconsistent entries were standardized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AB25610-C619-4F32-8269-2F8D397FA4F5}"/>
              </a:ext>
            </a:extLst>
          </p:cNvPr>
          <p:cNvSpPr txBox="1"/>
          <p:nvPr/>
        </p:nvSpPr>
        <p:spPr>
          <a:xfrm>
            <a:off x="5733982" y="5747616"/>
            <a:ext cx="6099142" cy="767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</a:t>
            </a:r>
            <a:endParaRPr lang="en-US" sz="1400" i="1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make the dataset clean, usable, and report-ready.</a:t>
            </a:r>
            <a:endParaRPr lang="en-US" sz="1400" i="1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82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60" y="907544"/>
            <a:ext cx="3869914" cy="8736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  <a:endParaRPr lang="en-US" sz="20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0AC557-0FB7-489E-A44E-3DDEE7E290AA}"/>
              </a:ext>
            </a:extLst>
          </p:cNvPr>
          <p:cNvGrpSpPr/>
          <p:nvPr/>
        </p:nvGrpSpPr>
        <p:grpSpPr>
          <a:xfrm>
            <a:off x="1640022" y="1963038"/>
            <a:ext cx="9455326" cy="2931924"/>
            <a:chOff x="1324409" y="1831753"/>
            <a:chExt cx="9455326" cy="293192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E64607A7-9BB1-4C04-B148-EC98431A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409" y="2256357"/>
              <a:ext cx="3252489" cy="20827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</a:pP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Main KPIs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Orders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Revenue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Average Revenue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Quantity Sold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C6FD1FB-7CB8-4C44-9DF9-7B693716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9642" y="1831753"/>
              <a:ext cx="5620093" cy="29319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</a:pP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Additional Metrics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Monthly Sales Trend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Top Products by Revenue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Top Products by Quantity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Top Customers by Revenue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Top Customers by Orders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Revenue by Region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0368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60" y="907544"/>
            <a:ext cx="3869914" cy="8736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  <a:endParaRPr lang="en-US" sz="20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0AC557-0FB7-489E-A44E-3DDEE7E290AA}"/>
              </a:ext>
            </a:extLst>
          </p:cNvPr>
          <p:cNvGrpSpPr/>
          <p:nvPr/>
        </p:nvGrpSpPr>
        <p:grpSpPr>
          <a:xfrm>
            <a:off x="1640022" y="1506726"/>
            <a:ext cx="9455326" cy="3844546"/>
            <a:chOff x="1324409" y="1375441"/>
            <a:chExt cx="9455326" cy="3844546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E64607A7-9BB1-4C04-B148-EC98431A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409" y="2256357"/>
              <a:ext cx="3252489" cy="20827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</a:pP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DAX </a:t>
              </a:r>
              <a:r>
                <a:rPr lang="en-US" sz="1800" b="1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Maseures</a:t>
              </a: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Used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Orders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Revenue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Average Revenue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  <a:tabLst>
                  <a:tab pos="457200" algn="l"/>
                </a:tabLst>
              </a:pPr>
              <a:r>
                <a: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Quantity Sold 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C6FD1FB-7CB8-4C44-9DF9-7B693716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9642" y="1375441"/>
              <a:ext cx="5620093" cy="3844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07000"/>
                </a:lnSpc>
                <a:spcBef>
                  <a:spcPts val="500"/>
                </a:spcBef>
                <a:spcAft>
                  <a:spcPts val="500"/>
                </a:spcAft>
              </a:pPr>
              <a:r>
                <a:rPr lang="en-US" sz="18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Additional Metrics</a:t>
              </a:r>
              <a:endPara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Revenue = SUM(Sales[Revenue])</a:t>
              </a:r>
              <a:endPara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Orders = COUNT(Sales[Order ID])</a:t>
              </a:r>
              <a:endPara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Quantity Sold = SUM(Sales[Quantity])</a:t>
              </a:r>
              <a:endPara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Avg Revenue = DIVIDE([Total Revenue], [Total Orders], 0)</a:t>
              </a:r>
              <a:endPara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Month Name = FORMAT(Sales[Order Date], "MMMM")</a:t>
              </a:r>
              <a:endPara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Month Number = MONTH(Sales[Order Date])</a:t>
              </a:r>
              <a:endPara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Year Month = FORMAT(Sales[Order Date], "YYYY-MMM")</a:t>
              </a:r>
              <a:endPara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Quarter = "Q" &amp; FORMAT(Sales[Order Date], "Q")</a:t>
              </a:r>
              <a:endPara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76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60" y="907544"/>
            <a:ext cx="2826367" cy="8736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Insights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4607A7-9BB1-4C04-B148-EC98431A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560" y="1664956"/>
            <a:ext cx="3252489" cy="428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recorded approximately </a:t>
            </a: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₦3M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revenue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of </a:t>
            </a: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944 orders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processed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7,722 units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sold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trend shows a </a:t>
            </a: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gradual decline over time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few customers contributed heavily to total revenue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products generated a strong share of sales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A7D96-EAF1-408D-9439-D6D743457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77" y="1583703"/>
            <a:ext cx="6985263" cy="367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67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60" y="907544"/>
            <a:ext cx="2826367" cy="8736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Insights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4607A7-9BB1-4C04-B148-EC98431A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298" y="1684920"/>
            <a:ext cx="3252489" cy="4453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Monitor, Webcam, Flash Drive, and Tablet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had high quantity sold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and Mouse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generated the highest revenue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 varied across regions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missing product values appeared as </a:t>
            </a: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Unknown Product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products clearly outperformed others in both sales and revenue 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E96A6-6673-42F0-9CF5-C340AEF35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717" y="1564848"/>
            <a:ext cx="6986016" cy="372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66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60" y="907544"/>
            <a:ext cx="2826367" cy="8736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4607A7-9BB1-4C04-B148-EC98431A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298" y="1736216"/>
            <a:ext cx="3252489" cy="4351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 customers placed significantly more orders than others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Mega Biz, Nova Supplies, Bluewave, and Alpha Retail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were strong contributors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Ibadan, Abuja, and Benin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showed high customer revenue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buying behavior varied by region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were influenced by a small number of high-performing customers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B8FBE-7B3E-46FB-A5AE-9F277CD7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122" y="1277369"/>
            <a:ext cx="6870915" cy="402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46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88" y="707160"/>
            <a:ext cx="2364453" cy="68066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Insights &amp; Recommendations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C8746-8D56-4647-8EEE-F475A2858CF7}"/>
              </a:ext>
            </a:extLst>
          </p:cNvPr>
          <p:cNvSpPr txBox="1"/>
          <p:nvPr/>
        </p:nvSpPr>
        <p:spPr>
          <a:xfrm>
            <a:off x="840660" y="1386248"/>
            <a:ext cx="6099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Based on the dashboard findings, the following recommendations can be made: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6E12BA-FC6D-47F4-8077-1BDFCE84BB37}"/>
              </a:ext>
            </a:extLst>
          </p:cNvPr>
          <p:cNvGrpSpPr/>
          <p:nvPr/>
        </p:nvGrpSpPr>
        <p:grpSpPr>
          <a:xfrm>
            <a:off x="1330017" y="2139203"/>
            <a:ext cx="9531966" cy="4548683"/>
            <a:chOff x="840661" y="2139203"/>
            <a:chExt cx="9531966" cy="4548683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E64607A7-9BB1-4C04-B148-EC98431A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661" y="2175813"/>
              <a:ext cx="2091076" cy="3703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/>
                <a:t>Focus on High-Performing Products</a:t>
              </a:r>
            </a:p>
            <a:p>
              <a:endParaRPr lang="en-US" dirty="0"/>
            </a:p>
            <a:p>
              <a:r>
                <a:rPr lang="en-US" dirty="0"/>
                <a:t>Products with strong revenue and quantity performance should receive:</a:t>
              </a:r>
            </a:p>
            <a:p>
              <a:endParaRPr lang="en-US" dirty="0"/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more inventory attention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promotional support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stronger visibility </a:t>
              </a: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5545C921-AD7F-428C-B378-45832A752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106" y="2139203"/>
              <a:ext cx="2091076" cy="3980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/>
                <a:t>Improve Sales in Declining Months</a:t>
              </a:r>
            </a:p>
            <a:p>
              <a:endParaRPr lang="en-US" dirty="0"/>
            </a:p>
            <a:p>
              <a:r>
                <a:rPr lang="en-US" dirty="0"/>
                <a:t>The downward monthly trend suggests a need to:</a:t>
              </a:r>
            </a:p>
            <a:p>
              <a:endParaRPr lang="en-US" dirty="0"/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investigate seasonal demand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run targeted campaigns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improve customer retention in low months </a:t>
              </a:r>
            </a:p>
          </p:txBody>
        </p: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9BBCAAB6-CA7F-43E7-B68A-FC8325818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551" y="2153344"/>
              <a:ext cx="2091076" cy="45345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/>
                <a:t>Strengthen High-Value Customer Relationships</a:t>
              </a:r>
            </a:p>
            <a:p>
              <a:endParaRPr lang="en-US" dirty="0"/>
            </a:p>
            <a:p>
              <a:r>
                <a:rPr lang="en-US" dirty="0"/>
                <a:t>Top customers contribute significantly to revenue and should be prioritized through:</a:t>
              </a:r>
            </a:p>
            <a:p>
              <a:endParaRPr lang="en-US" dirty="0"/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loyalty offers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follow-up engagement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personalized service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8290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88" y="707160"/>
            <a:ext cx="2364453" cy="68066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Insights &amp; Recommendations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C8746-8D56-4647-8EEE-F475A2858CF7}"/>
              </a:ext>
            </a:extLst>
          </p:cNvPr>
          <p:cNvSpPr txBox="1"/>
          <p:nvPr/>
        </p:nvSpPr>
        <p:spPr>
          <a:xfrm>
            <a:off x="840660" y="1386248"/>
            <a:ext cx="6099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Based on the dashboard findings, the following recommendations can be made: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831EED-C4C8-492A-8FAB-9F021BBD0651}"/>
              </a:ext>
            </a:extLst>
          </p:cNvPr>
          <p:cNvGrpSpPr/>
          <p:nvPr/>
        </p:nvGrpSpPr>
        <p:grpSpPr>
          <a:xfrm>
            <a:off x="2583783" y="2217744"/>
            <a:ext cx="7024435" cy="4071915"/>
            <a:chOff x="1330017" y="2037315"/>
            <a:chExt cx="7024435" cy="4071915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E64607A7-9BB1-4C04-B148-EC98431A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017" y="2037315"/>
              <a:ext cx="2091076" cy="3980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/>
                <a:t>Optimize Regional Strategy</a:t>
              </a:r>
            </a:p>
            <a:p>
              <a:endParaRPr lang="en-US" dirty="0"/>
            </a:p>
            <a:p>
              <a:r>
                <a:rPr lang="en-US" dirty="0"/>
                <a:t>Since revenue differs by region, the business should:</a:t>
              </a:r>
            </a:p>
            <a:p>
              <a:endParaRPr lang="en-US" dirty="0"/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target strong regions more aggressively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investigate weaker-performing regions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align products with regional demand </a:t>
              </a:r>
            </a:p>
          </p:txBody>
        </p: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9BBCAAB6-CA7F-43E7-B68A-FC8325818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3376" y="2128685"/>
              <a:ext cx="2091076" cy="3980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101568" numCol="1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/>
                <a:t>Improve Data Entry Process</a:t>
              </a:r>
            </a:p>
            <a:p>
              <a:endParaRPr lang="en-US" dirty="0"/>
            </a:p>
            <a:p>
              <a:r>
                <a:rPr lang="en-US" dirty="0"/>
                <a:t>The presence of missing and inconsistent data suggests a need for:</a:t>
              </a:r>
            </a:p>
            <a:p>
              <a:endParaRPr lang="en-US" dirty="0"/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better transaction capture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standardized entry rules </a:t>
              </a:r>
            </a:p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dirty="0"/>
                <a:t>improved data governance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8423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60" y="1032134"/>
            <a:ext cx="2826367" cy="3843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Report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4607A7-9BB1-4C04-B148-EC98431A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650" y="1919476"/>
            <a:ext cx="3252489" cy="3522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Users can:</a:t>
            </a:r>
          </a:p>
          <a:p>
            <a:endParaRPr lang="en-US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Track overall sales performance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Monitor monthly revenue trend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Identify top products and customers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Compare sales by region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Filter the dashboard for focused analysis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6FC5717-65AE-41F1-A099-114638981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354" y="2352907"/>
            <a:ext cx="3252489" cy="2275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Use Cases</a:t>
            </a:r>
          </a:p>
          <a:p>
            <a:endParaRPr lang="en-US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Sales reporting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Business review meetings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Product tracking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Customer performance analysis </a:t>
            </a:r>
          </a:p>
        </p:txBody>
      </p:sp>
    </p:spTree>
    <p:extLst>
      <p:ext uri="{BB962C8B-B14F-4D97-AF65-F5344CB8AC3E}">
        <p14:creationId xmlns:p14="http://schemas.microsoft.com/office/powerpoint/2010/main" val="3344798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928" y="866935"/>
            <a:ext cx="2826367" cy="3843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Disclaimer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4607A7-9BB1-4C04-B148-EC98431A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951" y="2106126"/>
            <a:ext cx="5998098" cy="361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This project uses a </a:t>
            </a:r>
            <a:r>
              <a:rPr lang="en-US" b="1" dirty="0"/>
              <a:t>simulated sales dataset</a:t>
            </a:r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Data was intentionally made dirty for cleaning and analysis practice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Business name and records are used for </a:t>
            </a:r>
            <a:r>
              <a:rPr lang="en-US" b="1" dirty="0"/>
              <a:t>demonstration purposes only</a:t>
            </a:r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Project was created to showcase: </a:t>
            </a:r>
            <a:endParaRPr lang="en-US" sz="16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Power Query cleaning </a:t>
            </a:r>
            <a:endParaRPr lang="en-US" sz="16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DAX calculations </a:t>
            </a:r>
            <a:endParaRPr lang="en-US" sz="16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dashboard design </a:t>
            </a:r>
            <a:endParaRPr lang="en-US" sz="16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business storytelling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36691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6564845-85D3-4648-A347-B1D0840A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928" y="866935"/>
            <a:ext cx="2826367" cy="3843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C228BC8C-D2D5-49F9-91D4-1DA4113B42D2}"/>
              </a:ext>
            </a:extLst>
          </p:cNvPr>
          <p:cNvSpPr/>
          <p:nvPr/>
        </p:nvSpPr>
        <p:spPr>
          <a:xfrm>
            <a:off x="220900" y="209162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00C3DE0D-333D-4242-ACCF-31C0E117D897}"/>
              </a:ext>
            </a:extLst>
          </p:cNvPr>
          <p:cNvSpPr/>
          <p:nvPr/>
        </p:nvSpPr>
        <p:spPr>
          <a:xfrm>
            <a:off x="11213364" y="348231"/>
            <a:ext cx="619760" cy="5232400"/>
          </a:xfrm>
          <a:prstGeom prst="halfFrame">
            <a:avLst/>
          </a:prstGeom>
          <a:solidFill>
            <a:srgbClr val="C00000"/>
          </a:solidFill>
          <a:ln>
            <a:noFill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A92F2-8B23-4B81-87DA-DB522F9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4607A7-9BB1-4C04-B148-EC98431A5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951" y="1450491"/>
            <a:ext cx="5998098" cy="3149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project demonstrates:</a:t>
            </a:r>
          </a:p>
          <a:p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Data cleaning and preparation</a:t>
            </a:r>
          </a:p>
          <a:p>
            <a:pPr lvl="0"/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Power Query transformation </a:t>
            </a:r>
          </a:p>
          <a:p>
            <a:pPr lvl="0"/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DAX measure creation </a:t>
            </a:r>
          </a:p>
          <a:p>
            <a:pPr lvl="0"/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Dashboard design in Power BI</a:t>
            </a:r>
          </a:p>
          <a:p>
            <a:pPr lvl="0"/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Business insight generation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1C9AE7-491E-4796-9FA5-B041D06F310C}"/>
              </a:ext>
            </a:extLst>
          </p:cNvPr>
          <p:cNvSpPr txBox="1"/>
          <p:nvPr/>
        </p:nvSpPr>
        <p:spPr>
          <a:xfrm>
            <a:off x="1286759" y="5821498"/>
            <a:ext cx="6099142" cy="1036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Outcome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clean, interactive sales dashboard built from messy raw data.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First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Pbi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project1.pbix</a:t>
            </a:r>
            <a:endParaRPr lang="en-US" sz="1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4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934</Words>
  <Application>Microsoft Office PowerPoint</Application>
  <PresentationFormat>Widescreen</PresentationFormat>
  <Paragraphs>226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kelvin Etisi</dc:creator>
  <cp:lastModifiedBy>kelvin Etisi</cp:lastModifiedBy>
  <cp:revision>33</cp:revision>
  <dcterms:created xsi:type="dcterms:W3CDTF">2026-03-31T22:20:03Z</dcterms:created>
  <dcterms:modified xsi:type="dcterms:W3CDTF">2026-04-02T23:04:00Z</dcterms:modified>
</cp:coreProperties>
</file>